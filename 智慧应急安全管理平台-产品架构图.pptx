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eafaa7c340434a" /><Relationship Type="http://schemas.openxmlformats.org/officeDocument/2006/relationships/extended-properties" Target="/docProps/app.xml" Id="R499080f78c6c476b" /><Relationship Type="http://schemas.openxmlformats.org/officeDocument/2006/relationships/officeDocument" Target="/ppt/presentation.xml" Id="R777b9859667d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b25fabf624413d"/>
  </p:sldMasterIdLst>
  <p:notesMasterIdLst>
    <p:notesMasterId xmlns:r="http://schemas.openxmlformats.org/officeDocument/2006/relationships" r:id="R57c08211ab7d4b97"/>
  </p:notesMasterIdLst>
  <p:sldIdLst>
    <p:sldId xmlns:r="http://schemas.openxmlformats.org/officeDocument/2006/relationships" id="256" r:id="R9086dcfa86ba49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ef5bcda37b4607" /><Relationship Type="http://schemas.openxmlformats.org/officeDocument/2006/relationships/slideMaster" Target="/ppt/slideMasters/slideMaster1.xml" Id="R0eb25fabf624413d" /><Relationship Type="http://schemas.openxmlformats.org/officeDocument/2006/relationships/notesMaster" Target="/ppt/notesMasters/notesMaster1.xml" Id="R57c08211ab7d4b97" /><Relationship Type="http://schemas.openxmlformats.org/officeDocument/2006/relationships/presProps" Target="/ppt/presProps.xml" Id="R90b40aa38bbc4b16" /><Relationship Type="http://schemas.openxmlformats.org/officeDocument/2006/relationships/tableStyles" Target="/ppt/tableStyles.xml" Id="Ref901d436cff498a" /><Relationship Type="http://schemas.openxmlformats.org/officeDocument/2006/relationships/slide" Target="/ppt/slides/slide1.xml" Id="R9086dcfa86ba49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fa8ada1eaa48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497c6898164bb7" /><Relationship Type="http://schemas.openxmlformats.org/officeDocument/2006/relationships/notesMaster" Target="/ppt/notesMasters/notesMaster1.xml" Id="R7324af59416c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3628e24da42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47e07088044afb" /><Relationship Type="http://schemas.openxmlformats.org/officeDocument/2006/relationships/slideLayout" Target="/ppt/slideLayouts/slideLayout1.xml" Id="R441e4d9aa5bf48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e4d9aa5bf48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f9b5972b0435e" /><Relationship Type="http://schemas.openxmlformats.org/officeDocument/2006/relationships/notesSlide" Target="/ppt/notesSlides/notesSlide1.xml" Id="R1d456e5dbb5a4b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71FB51-712D-488A-8431-889A5D1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5C4"/>
          </a:solidFill>
          <a:ln xmlns:a="http://schemas.openxmlformats.org/drawingml/2006/main" w="0">
            <a:solidFill>
              <a:srgbClr val="1475C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23951-6213-4183-AD5A-03B4A8CD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智慧应急安全管理平台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98D64-B6C7-4F75-932A-C900A6A6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5C4"/>
                </a:solidFill>
              </a:defRPr>
            </a:pPr>
            <a:r>
              <a:rPr sz="1650" b="1">
                <a:solidFill>
                  <a:srgbClr val="1475C4"/>
                </a:solidFill>
              </a:rPr>
              <a:t>产品架构图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59CC2-7E8C-4E2E-92B0-20AE28CC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14400"/>
            <a:ext cx="771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27D98"/>
                </a:solidFill>
              </a:defRPr>
            </a:pPr>
            <a:r>
              <a:rPr sz="1425">
                <a:solidFill>
                  <a:srgbClr val="627D98"/>
                </a:solidFill>
              </a:rPr>
              <a:t>以统一工作入口承接协同闭环，以安全业务应用与治理能力支撑日常运营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76B27-B427-4ADC-A5AA-89EFDB94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00050"/>
            <a:ext cx="1552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829AB1"/>
                </a:solidFill>
              </a:defRPr>
            </a:pPr>
            <a:r>
              <a:rPr sz="1125">
                <a:solidFill>
                  <a:srgbClr val="829AB1"/>
                </a:solidFill>
              </a:rPr>
              <a:t>分层产品能力全景</a:t>
            </a:r>
          </a:p>
        </p:txBody>
      </p:sp>
      <p:sp>
        <p:nvSpPr>
          <p:cNvPr id="6" name="layer-01">
            <a:extLst xmlns:a="http://schemas.openxmlformats.org/drawingml/2006/main">
              <a:ext uri="{FF2B5EF4-FFF2-40B4-BE49-F238E27FC236}">
                <a16:creationId xmlns:a16="http://schemas.microsoft.com/office/drawing/2014/main" id="{FBA2A2FB-7C36-4F59-9B46-ABD7F17E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layer-accent-01">
            <a:extLst xmlns:a="http://schemas.openxmlformats.org/drawingml/2006/main">
              <a:ext uri="{FF2B5EF4-FFF2-40B4-BE49-F238E27FC236}">
                <a16:creationId xmlns:a16="http://schemas.microsoft.com/office/drawing/2014/main" id="{DBC463D1-BE6F-41B6-B3FB-A59880A7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52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5C4"/>
          </a:solidFill>
          <a:ln xmlns:a="http://schemas.openxmlformats.org/drawingml/2006/main" w="0">
            <a:solidFill>
              <a:srgbClr val="1475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C1EA5-F56D-4FF8-BEC5-C3374A04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5C4"/>
                </a:solidFill>
              </a:defRPr>
            </a:pPr>
            <a:r>
              <a:rPr sz="975" b="1">
                <a:solidFill>
                  <a:srgbClr val="1475C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68B94-88D5-48C7-920D-1AA6E3AA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04F"/>
                </a:solidFill>
              </a:defRPr>
            </a:pPr>
            <a:r>
              <a:rPr sz="1650" b="1">
                <a:solidFill>
                  <a:srgbClr val="17304F"/>
                </a:solidFill>
              </a:rPr>
              <a:t>统一入口层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D71E2-DC14-42B8-9165-AFAEEDA6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954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C"/>
          </a:solidFill>
          <a:ln xmlns:a="http://schemas.openxmlformats.org/drawingml/2006/main" w="0">
            <a:solidFill>
              <a:srgbClr val="D5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5C085-AC88-451A-B836-EE2BB35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工作台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E7F19-A2BF-4638-B9BF-8858652E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0020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待办总览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49F06-7438-416B-B80A-FADC72BC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消息中心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135E8-C893-4C96-959B-DFDA9B80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0020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快捷入口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994EA-5AF3-40A6-BAC6-D78436EA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0020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常用应用</a:t>
            </a:r>
          </a:p>
        </p:txBody>
      </p:sp>
      <p:sp>
        <p:nvSpPr>
          <p:cNvPr id="16" name="layer-02">
            <a:extLst xmlns:a="http://schemas.openxmlformats.org/drawingml/2006/main">
              <a:ext uri="{FF2B5EF4-FFF2-40B4-BE49-F238E27FC236}">
                <a16:creationId xmlns:a16="http://schemas.microsoft.com/office/drawing/2014/main" id="{EB132FD7-50D3-42FC-A494-ADB97BCD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B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layer-accent-02">
            <a:extLst xmlns:a="http://schemas.openxmlformats.org/drawingml/2006/main">
              <a:ext uri="{FF2B5EF4-FFF2-40B4-BE49-F238E27FC236}">
                <a16:creationId xmlns:a16="http://schemas.microsoft.com/office/drawing/2014/main" id="{E14EE523-8669-43A7-8F44-8663BC5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952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D8A"/>
          </a:solidFill>
          <a:ln xmlns:a="http://schemas.openxmlformats.org/drawingml/2006/main" w="0">
            <a:solidFill>
              <a:srgbClr val="138D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CBE63-5664-42E6-B303-F7390953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38D8A"/>
                </a:solidFill>
              </a:defRPr>
            </a:pPr>
            <a:r>
              <a:rPr sz="975" b="1">
                <a:solidFill>
                  <a:srgbClr val="138D8A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7E901-C957-4E43-8B35-4E0A6481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04F"/>
                </a:solidFill>
              </a:defRPr>
            </a:pPr>
            <a:r>
              <a:rPr sz="1650" b="1">
                <a:solidFill>
                  <a:srgbClr val="17304F"/>
                </a:solidFill>
              </a:rPr>
              <a:t>协同服务层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B2DFE-B689-487B-AD7B-FB064D8C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027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C"/>
          </a:solidFill>
          <a:ln xmlns:a="http://schemas.openxmlformats.org/drawingml/2006/main" w="0">
            <a:solidFill>
              <a:srgbClr val="D5E0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D6E47-F197-4CF9-9898-30017955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任务中心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0EEF2-4B94-4129-B2D4-7CBC326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050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流程中心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40522-F4FA-4C5D-BA85-8F747423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动态中心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DF4D5-C01A-43EE-A6AA-95B26B5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预警中心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4053E-F124-42A3-A8DB-9A473DAF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050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看板与数据台</a:t>
            </a:r>
          </a:p>
        </p:txBody>
      </p:sp>
      <p:sp>
        <p:nvSpPr>
          <p:cNvPr id="26" name="layer-03">
            <a:extLst xmlns:a="http://schemas.openxmlformats.org/drawingml/2006/main">
              <a:ext uri="{FF2B5EF4-FFF2-40B4-BE49-F238E27FC236}">
                <a16:creationId xmlns:a16="http://schemas.microsoft.com/office/drawing/2014/main" id="{55656752-0E9C-4455-A103-0D5FD96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9F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layer-accent-03">
            <a:extLst xmlns:a="http://schemas.openxmlformats.org/drawingml/2006/main">
              <a:ext uri="{FF2B5EF4-FFF2-40B4-BE49-F238E27FC236}">
                <a16:creationId xmlns:a16="http://schemas.microsoft.com/office/drawing/2014/main" id="{425526BA-B5AC-4D3C-9680-587D2B50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952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 w="0">
            <a:solidFill>
              <a:srgbClr val="E05A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3101A-A2BF-4D90-BA24-4088C38E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F507C2-66B8-44F9-AD9E-2F7CDDF0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04F"/>
                </a:solidFill>
              </a:defRPr>
            </a:pPr>
            <a:r>
              <a:rPr sz="1650" b="1">
                <a:solidFill>
                  <a:srgbClr val="17304F"/>
                </a:solidFill>
              </a:rPr>
              <a:t>安全业务应用层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EBE3AC-19E7-4CAF-A6E1-B33B2176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0512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C"/>
          </a:solidFill>
          <a:ln xmlns:a="http://schemas.openxmlformats.org/drawingml/2006/main" w="0">
            <a:solidFill>
              <a:srgbClr val="D5E0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95D51E-BA55-4617-A2A6-6184431C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62275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双重预防机制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35D32-D8D7-42DA-B503-20474366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62275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安全管理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474FDA-3B72-42A3-BDBD-E1EB2B8E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62275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设备管理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BC3D4F-6542-472C-874A-B4DFCC86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62275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火工品管理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0752F6-9F12-481C-B6CE-DB8FB77E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生产管理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F6DE0F-3F21-46C1-98AF-EA8926A5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机电管理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1A3A38-0889-4DD4-9D9C-21B3F9E9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消防管理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2749C8-C2AB-45F9-9A85-C493CFF4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956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应急管理</a:t>
            </a:r>
          </a:p>
        </p:txBody>
      </p:sp>
      <p:sp>
        <p:nvSpPr>
          <p:cNvPr id="39" name="layer-04">
            <a:extLst xmlns:a="http://schemas.openxmlformats.org/drawingml/2006/main">
              <a:ext uri="{FF2B5EF4-FFF2-40B4-BE49-F238E27FC236}">
                <a16:creationId xmlns:a16="http://schemas.microsoft.com/office/drawing/2014/main" id="{918EFF1D-6FDC-4802-8EF2-03F8E38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layer-accent-04">
            <a:extLst xmlns:a="http://schemas.openxmlformats.org/drawingml/2006/main">
              <a:ext uri="{FF2B5EF4-FFF2-40B4-BE49-F238E27FC236}">
                <a16:creationId xmlns:a16="http://schemas.microsoft.com/office/drawing/2014/main" id="{4E6650E9-4F14-43B1-9D62-1404520E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952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9925"/>
          </a:solidFill>
          <a:ln xmlns:a="http://schemas.openxmlformats.org/drawingml/2006/main" w="0">
            <a:solidFill>
              <a:srgbClr val="D1992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DF4103-3212-4042-B861-ABCF7C95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19925"/>
                </a:solidFill>
              </a:defRPr>
            </a:pPr>
            <a:r>
              <a:rPr sz="975" b="1">
                <a:solidFill>
                  <a:srgbClr val="D19925"/>
                </a:solidFill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7C360B-DC4F-4A3E-AB1E-88FB358C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04F"/>
                </a:solidFill>
              </a:defRPr>
            </a:pPr>
            <a:r>
              <a:rPr sz="1650" b="1">
                <a:solidFill>
                  <a:srgbClr val="17304F"/>
                </a:solidFill>
              </a:rPr>
              <a:t>业务配置层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529FDF-1590-4FC9-8DA1-8F534B59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957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C"/>
          </a:solidFill>
          <a:ln xmlns:a="http://schemas.openxmlformats.org/drawingml/2006/main" w="0">
            <a:solidFill>
              <a:srgbClr val="D5E0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E849AA-3217-49F7-9164-FD5C263E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安全动态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E6C6EB-1970-4DC4-9552-3FFF3C23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工作表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DCBFEE-9711-4028-98DE-FE42ED4B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任务配置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8C9B4D-5CCC-4E95-81CD-6413D50A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流程配置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B0DDB4-3894-476E-AEFE-4283250E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预警规则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E492D3-385A-4B23-8402-99AA5B9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应用配置</a:t>
            </a:r>
          </a:p>
        </p:txBody>
      </p:sp>
      <p:sp>
        <p:nvSpPr>
          <p:cNvPr id="50" name="layer-05">
            <a:extLst xmlns:a="http://schemas.openxmlformats.org/drawingml/2006/main">
              <a:ext uri="{FF2B5EF4-FFF2-40B4-BE49-F238E27FC236}">
                <a16:creationId xmlns:a16="http://schemas.microsoft.com/office/drawing/2014/main" id="{40B5F63F-55B5-473F-AE3E-84A0184C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1" name="layer-accent-05">
            <a:extLst xmlns:a="http://schemas.openxmlformats.org/drawingml/2006/main">
              <a:ext uri="{FF2B5EF4-FFF2-40B4-BE49-F238E27FC236}">
                <a16:creationId xmlns:a16="http://schemas.microsoft.com/office/drawing/2014/main" id="{A519C009-C08D-4B68-BEF4-0ADD1DEA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952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6D7E"/>
          </a:solidFill>
          <a:ln xmlns:a="http://schemas.openxmlformats.org/drawingml/2006/main" w="0">
            <a:solidFill>
              <a:srgbClr val="5D6D7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71186B-AD78-42C6-AFC0-B6A1BDB9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6D7E"/>
                </a:solidFill>
              </a:defRPr>
            </a:pPr>
            <a:r>
              <a:rPr sz="975" b="1">
                <a:solidFill>
                  <a:srgbClr val="5D6D7E"/>
                </a:solidFill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7A3FA5-B376-4C21-95F3-62733F7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04F"/>
                </a:solidFill>
              </a:defRPr>
            </a:pPr>
            <a:r>
              <a:rPr sz="1650" b="1">
                <a:solidFill>
                  <a:srgbClr val="17304F"/>
                </a:solidFill>
              </a:rPr>
              <a:t>系统治理层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CCA85F-86F5-45F9-B825-B81B3F08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0057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C"/>
          </a:solidFill>
          <a:ln xmlns:a="http://schemas.openxmlformats.org/drawingml/2006/main" w="0">
            <a:solidFill>
              <a:srgbClr val="D5E0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63C2A3-7C09-452F-8182-33D7BB8F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组织架构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82ABB0-3ED8-41BB-B60F-C894B0CB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0535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用户中心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67F01E-0F93-413F-99D0-AD87F4BA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0535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岗位管理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B16BAF-4873-4853-81FC-5480A2B9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角色权限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7131AF-4FF4-41D8-B248-57E45742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0535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菜单权限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B27905-5E1B-4231-B193-465D31BD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0535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数据权限</a:t>
            </a:r>
          </a:p>
        </p:txBody>
      </p:sp>
      <p:sp>
        <p:nvSpPr>
          <p:cNvPr id="61" name="platform-foundation">
            <a:extLst xmlns:a="http://schemas.openxmlformats.org/drawingml/2006/main">
              <a:ext uri="{FF2B5EF4-FFF2-40B4-BE49-F238E27FC236}">
                <a16:creationId xmlns:a16="http://schemas.microsoft.com/office/drawing/2014/main" id="{5D464DC1-E7CE-42DF-9153-1609571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B61"/>
          </a:solidFill>
          <a:ln xmlns:a="http://schemas.openxmlformats.org/drawingml/2006/main" w="0">
            <a:solidFill>
              <a:srgbClr val="173B6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3C2710-069B-459B-BA47-7F30E9FA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97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平台基础能力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146F8F-4FB7-4EA1-9DAE-D2451C9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800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9EAF7"/>
                </a:solidFill>
              </a:defRPr>
            </a:pPr>
            <a:r>
              <a:rPr sz="1350">
                <a:solidFill>
                  <a:srgbClr val="D9EAF7"/>
                </a:solidFill>
              </a:rPr>
              <a:t>数据字典   ·   个人中心   ·   统一消息通知   ·   数据权限范围   ·   业务表单与历史数据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C8440A-D55B-4086-9AE9-E04004F0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829AB1"/>
                </a:solidFill>
              </a:defRPr>
            </a:pPr>
            <a:r>
              <a:rPr sz="1050">
                <a:solidFill>
                  <a:srgbClr val="829AB1"/>
                </a:solidFill>
              </a:rPr>
              <a:t>工作台统一入口  |  业务协同闭环  |  安全生产数字化</a:t>
            </a:r>
          </a:p>
        </p:txBody>
      </p:sp>
    </p:spTree>
    <p:extLst>
      <p:ext uri="{BB962C8B-B14F-4D97-AF65-F5344CB8AC3E}">
        <p14:creationId xmlns:p14="http://schemas.microsoft.com/office/powerpoint/2010/main" val="1721717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2026-08-19T01:12:20.3680000Z</dcterms:created>
  <dcterms:modified xsi:type="dcterms:W3CDTF">2026-08-19T01:12:20.3680000Z</dcterms:modified>
</coreProperties>
</file>