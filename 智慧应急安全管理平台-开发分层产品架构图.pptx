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5" name="矩形 134"/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27622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750" b="1">
                <a:solidFill>
                  <a:srgbClr val="102C49"/>
                </a:solidFill>
              </a:defRPr>
            </a:pPr>
            <a:r>
              <a:rPr sz="3750" b="1">
                <a:solidFill>
                  <a:srgbClr val="102C49"/>
                </a:solidFill>
              </a:rPr>
              <a:t>智慧应急安全管理平台</a:t>
            </a:r>
            <a:endParaRPr sz="3750" b="1">
              <a:solidFill>
                <a:srgbClr val="102C49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28650" y="8953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77C8"/>
                </a:solidFill>
              </a:defRPr>
            </a:pPr>
            <a:r>
              <a:rPr sz="1800" b="1">
                <a:solidFill>
                  <a:srgbClr val="1677C8"/>
                </a:solidFill>
              </a:rPr>
              <a:t>分层产品架构图</a:t>
            </a:r>
            <a:r>
              <a:rPr lang="en-US" sz="1800" b="1">
                <a:solidFill>
                  <a:srgbClr val="1677C8"/>
                </a:solidFill>
              </a:rPr>
              <a:t>（</a:t>
            </a:r>
            <a:r>
              <a:rPr lang="zh-CN" altLang="en-US" sz="1800" b="1">
                <a:solidFill>
                  <a:srgbClr val="1677C8"/>
                </a:solidFill>
              </a:rPr>
              <a:t>本期</a:t>
            </a:r>
            <a:r>
              <a:rPr lang="en-US" altLang="zh-CN" sz="1800" b="1">
                <a:solidFill>
                  <a:srgbClr val="1677C8"/>
                </a:solidFill>
              </a:rPr>
              <a:t>）</a:t>
            </a:r>
            <a:endParaRPr lang="en-US" altLang="zh-CN" sz="1800" b="1">
              <a:solidFill>
                <a:srgbClr val="1677C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454400" y="942975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627C98"/>
                </a:solidFill>
              </a:defRPr>
            </a:pPr>
            <a:r>
              <a:rPr sz="1350">
                <a:solidFill>
                  <a:srgbClr val="627C98"/>
                </a:solidFill>
              </a:rPr>
              <a:t>围绕统一入口、业务闭环、领域应用、配置治理和共用能力进行模块拆分</a:t>
            </a:r>
            <a:endParaRPr sz="1350">
              <a:solidFill>
                <a:srgbClr val="627C98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09600" y="1694815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694815"/>
            <a:ext cx="95250" cy="647700"/>
          </a:xfrm>
          <a:prstGeom prst="roundRect">
            <a:avLst>
              <a:gd name="adj" fmla="val 50000"/>
            </a:avLst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95350" y="178054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677C8"/>
                </a:solidFill>
              </a:defRPr>
            </a:pPr>
            <a:r>
              <a:rPr sz="975" b="1">
                <a:solidFill>
                  <a:srgbClr val="1677C8"/>
                </a:solidFill>
              </a:rPr>
              <a:t>01</a:t>
            </a:r>
            <a:endParaRPr sz="975" b="1">
              <a:solidFill>
                <a:srgbClr val="1677C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95350" y="195199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用户入口层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800350" y="1809115"/>
            <a:ext cx="9525" cy="4191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12" name="圆角矩形 11"/>
          <p:cNvSpPr>
            <a:spLocks noGrp="1"/>
          </p:cNvSpPr>
          <p:nvPr/>
        </p:nvSpPr>
        <p:spPr>
          <a:xfrm>
            <a:off x="3028950" y="181864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28950" y="1818640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162300" y="188976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动态</a:t>
            </a:r>
            <a:r>
              <a:rPr lang="zh-CN" sz="1200" b="1">
                <a:solidFill>
                  <a:srgbClr val="20374F"/>
                </a:solidFill>
              </a:rPr>
              <a:t>圈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712970" y="181864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712970" y="1818640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846320" y="188976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应用</a:t>
            </a:r>
            <a:r>
              <a:rPr lang="zh-CN" sz="1200" b="1">
                <a:solidFill>
                  <a:srgbClr val="20374F"/>
                </a:solidFill>
              </a:rPr>
              <a:t>聚合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396990" y="181864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396990" y="1818640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530340" y="188976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待办总览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081010" y="181864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081010" y="1818640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214360" y="188976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消息中心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9765030" y="181864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65030" y="1818640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898380" y="188976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看板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609600" y="2437765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F3FBFA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28" name="圆角矩形 27"/>
          <p:cNvSpPr>
            <a:spLocks noGrp="1"/>
          </p:cNvSpPr>
          <p:nvPr/>
        </p:nvSpPr>
        <p:spPr>
          <a:xfrm>
            <a:off x="609600" y="2437765"/>
            <a:ext cx="95250" cy="647700"/>
          </a:xfrm>
          <a:prstGeom prst="roundRect">
            <a:avLst>
              <a:gd name="adj" fmla="val 50000"/>
            </a:avLst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95350" y="2523490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168F8B"/>
                </a:solidFill>
              </a:defRPr>
            </a:pPr>
            <a:r>
              <a:rPr sz="975" b="1">
                <a:solidFill>
                  <a:srgbClr val="168F8B"/>
                </a:solidFill>
              </a:rPr>
              <a:t>02</a:t>
            </a:r>
            <a:endParaRPr sz="975" b="1">
              <a:solidFill>
                <a:srgbClr val="168F8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95350" y="269494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协同闭环层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800350" y="2552065"/>
            <a:ext cx="9525" cy="4191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3028950" y="256159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028950" y="2561590"/>
            <a:ext cx="38100" cy="400050"/>
          </a:xfrm>
          <a:prstGeom prst="rect">
            <a:avLst/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3162300" y="263271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任务中心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4712970" y="256159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4712970" y="2561590"/>
            <a:ext cx="38100" cy="400050"/>
          </a:xfrm>
          <a:prstGeom prst="rect">
            <a:avLst/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4846320" y="263271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流程中心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396990" y="256159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6396990" y="2561590"/>
            <a:ext cx="38100" cy="400050"/>
          </a:xfrm>
          <a:prstGeom prst="rect">
            <a:avLst/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530340" y="263271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预警中心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8081010" y="256159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8081010" y="2561590"/>
            <a:ext cx="38100" cy="400050"/>
          </a:xfrm>
          <a:prstGeom prst="rect">
            <a:avLst/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214360" y="263271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动态中心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765030" y="2561590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765030" y="2561590"/>
            <a:ext cx="38100" cy="400050"/>
          </a:xfrm>
          <a:prstGeom prst="rect">
            <a:avLst/>
          </a:prstGeom>
          <a:solidFill>
            <a:srgbClr val="168F8B"/>
          </a:solidFill>
          <a:ln w="0">
            <a:solidFill>
              <a:srgbClr val="168F8B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9898380" y="2632710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看板与数据台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609600" y="3180715"/>
            <a:ext cx="10972800" cy="876300"/>
          </a:xfrm>
          <a:prstGeom prst="roundRect">
            <a:avLst>
              <a:gd name="adj" fmla="val 13043"/>
            </a:avLst>
          </a:prstGeom>
          <a:solidFill>
            <a:srgbClr val="FFF9F7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49" name="圆角矩形 48"/>
          <p:cNvSpPr>
            <a:spLocks noGrp="1"/>
          </p:cNvSpPr>
          <p:nvPr/>
        </p:nvSpPr>
        <p:spPr>
          <a:xfrm>
            <a:off x="609600" y="3180715"/>
            <a:ext cx="95250" cy="876300"/>
          </a:xfrm>
          <a:prstGeom prst="roundRect">
            <a:avLst>
              <a:gd name="adj" fmla="val 50000"/>
            </a:avLst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95350" y="3338195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E25D4B"/>
                </a:solidFill>
              </a:defRPr>
            </a:pPr>
            <a:r>
              <a:rPr sz="975" b="1">
                <a:solidFill>
                  <a:srgbClr val="E25D4B"/>
                </a:solidFill>
              </a:rPr>
              <a:t>03</a:t>
            </a:r>
            <a:endParaRPr sz="975" b="1">
              <a:solidFill>
                <a:srgbClr val="E25D4B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95350" y="350964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业务应用层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800350" y="3295015"/>
            <a:ext cx="9525" cy="6477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54" name="圆角矩形 53"/>
          <p:cNvSpPr>
            <a:spLocks noGrp="1"/>
          </p:cNvSpPr>
          <p:nvPr/>
        </p:nvSpPr>
        <p:spPr>
          <a:xfrm>
            <a:off x="3028950" y="3285490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3028950" y="3285490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162300" y="3284855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双重预防机制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57" name="圆角矩形 56"/>
          <p:cNvSpPr>
            <a:spLocks noGrp="1"/>
          </p:cNvSpPr>
          <p:nvPr/>
        </p:nvSpPr>
        <p:spPr>
          <a:xfrm>
            <a:off x="5133975" y="3285490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5133975" y="3285490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5267325" y="3284855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安全管理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60" name="圆角矩形 59"/>
          <p:cNvSpPr>
            <a:spLocks noGrp="1"/>
          </p:cNvSpPr>
          <p:nvPr/>
        </p:nvSpPr>
        <p:spPr>
          <a:xfrm>
            <a:off x="7239000" y="3285490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239000" y="3285490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7372350" y="3284855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设备管理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63" name="圆角矩形 62"/>
          <p:cNvSpPr>
            <a:spLocks noGrp="1"/>
          </p:cNvSpPr>
          <p:nvPr/>
        </p:nvSpPr>
        <p:spPr>
          <a:xfrm>
            <a:off x="9344025" y="3285490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9344025" y="3285490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9477375" y="3284855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火工品管理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3028950" y="3656965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3028950" y="3656965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3162300" y="3656330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生产管理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5133975" y="3656965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5133975" y="3656965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5267325" y="3656330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机电管理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7239000" y="3656965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7239000" y="3656965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7372350" y="3656330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消防管理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9344025" y="3656965"/>
            <a:ext cx="2009775" cy="295275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9344025" y="3656965"/>
            <a:ext cx="38100" cy="295275"/>
          </a:xfrm>
          <a:prstGeom prst="rect">
            <a:avLst/>
          </a:prstGeom>
          <a:solidFill>
            <a:srgbClr val="E25D4B"/>
          </a:solidFill>
          <a:ln w="0">
            <a:solidFill>
              <a:srgbClr val="E25D4B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9477375" y="3656330"/>
            <a:ext cx="17811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应急管理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609600" y="495808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FFFCF5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79" name="圆角矩形 78"/>
          <p:cNvSpPr>
            <a:spLocks noGrp="1"/>
          </p:cNvSpPr>
          <p:nvPr/>
        </p:nvSpPr>
        <p:spPr>
          <a:xfrm>
            <a:off x="609600" y="4958080"/>
            <a:ext cx="95250" cy="647700"/>
          </a:xfrm>
          <a:prstGeom prst="roundRect">
            <a:avLst>
              <a:gd name="adj" fmla="val 50000"/>
            </a:avLst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895350" y="5043805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D39B28"/>
                </a:solidFill>
              </a:defRPr>
            </a:pPr>
            <a:r>
              <a:rPr sz="975" b="1">
                <a:solidFill>
                  <a:srgbClr val="D39B28"/>
                </a:solidFill>
              </a:rPr>
              <a:t>0</a:t>
            </a:r>
            <a:r>
              <a:rPr lang="en-US" sz="975" b="1">
                <a:solidFill>
                  <a:srgbClr val="D39B28"/>
                </a:solidFill>
              </a:rPr>
              <a:t>5</a:t>
            </a:r>
            <a:endParaRPr lang="en-US" sz="975" b="1">
              <a:solidFill>
                <a:srgbClr val="D39B28"/>
              </a:solidFill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95350" y="521525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配置治理层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800350" y="5072380"/>
            <a:ext cx="9525" cy="4191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84" name="圆角矩形 83"/>
          <p:cNvSpPr>
            <a:spLocks noGrp="1"/>
          </p:cNvSpPr>
          <p:nvPr/>
        </p:nvSpPr>
        <p:spPr>
          <a:xfrm>
            <a:off x="3028950" y="508190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3028950" y="5081905"/>
            <a:ext cx="38100" cy="400050"/>
          </a:xfrm>
          <a:prstGeom prst="rect">
            <a:avLst/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3162300" y="515302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工作表</a:t>
            </a:r>
            <a:r>
              <a:rPr lang="zh-CN" sz="1200" b="1">
                <a:solidFill>
                  <a:srgbClr val="20374F"/>
                </a:solidFill>
              </a:rPr>
              <a:t>设计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4712970" y="508190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4712970" y="5081905"/>
            <a:ext cx="38100" cy="400050"/>
          </a:xfrm>
          <a:prstGeom prst="rect">
            <a:avLst/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4846320" y="515302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流程</a:t>
            </a:r>
            <a:r>
              <a:rPr lang="zh-CN" sz="1200" b="1">
                <a:solidFill>
                  <a:srgbClr val="20374F"/>
                </a:solidFill>
              </a:rPr>
              <a:t>设计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6396990" y="508190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6396990" y="5081905"/>
            <a:ext cx="38100" cy="400050"/>
          </a:xfrm>
          <a:prstGeom prst="rect">
            <a:avLst/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6530340" y="515302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预警规则</a:t>
            </a:r>
            <a:endParaRPr sz="1200" b="1">
              <a:solidFill>
                <a:srgbClr val="20374F"/>
              </a:solidFill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8081010" y="508190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8081010" y="5081905"/>
            <a:ext cx="38100" cy="400050"/>
          </a:xfrm>
          <a:prstGeom prst="rect">
            <a:avLst/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8214360" y="515302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任务</a:t>
            </a:r>
            <a:r>
              <a:rPr lang="zh-CN" sz="1200" b="1">
                <a:solidFill>
                  <a:srgbClr val="20374F"/>
                </a:solidFill>
              </a:rPr>
              <a:t>规则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9765030" y="508190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9765030" y="5081905"/>
            <a:ext cx="38100" cy="400050"/>
          </a:xfrm>
          <a:prstGeom prst="rect">
            <a:avLst/>
          </a:prstGeom>
          <a:solidFill>
            <a:srgbClr val="D39B28"/>
          </a:solidFill>
          <a:ln w="0">
            <a:solidFill>
              <a:srgbClr val="D39B28"/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9898380" y="515302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应用</a:t>
            </a:r>
            <a:r>
              <a:rPr lang="zh-CN" sz="1200" b="1">
                <a:solidFill>
                  <a:srgbClr val="20374F"/>
                </a:solidFill>
              </a:rPr>
              <a:t>设计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609600" y="570103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F6F9FC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100" name="圆角矩形 99"/>
          <p:cNvSpPr>
            <a:spLocks noGrp="1"/>
          </p:cNvSpPr>
          <p:nvPr/>
        </p:nvSpPr>
        <p:spPr>
          <a:xfrm>
            <a:off x="609600" y="5701030"/>
            <a:ext cx="95250" cy="647700"/>
          </a:xfrm>
          <a:prstGeom prst="roundRect">
            <a:avLst>
              <a:gd name="adj" fmla="val 50000"/>
            </a:avLst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895350" y="5786755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5C7187"/>
                </a:solidFill>
              </a:defRPr>
            </a:pPr>
            <a:r>
              <a:rPr sz="975" b="1">
                <a:solidFill>
                  <a:srgbClr val="5C7187"/>
                </a:solidFill>
              </a:rPr>
              <a:t>0</a:t>
            </a:r>
            <a:r>
              <a:rPr lang="en-US" sz="975" b="1">
                <a:solidFill>
                  <a:srgbClr val="5C7187"/>
                </a:solidFill>
              </a:rPr>
              <a:t>6</a:t>
            </a:r>
            <a:endParaRPr lang="en-US" sz="975" b="1">
              <a:solidFill>
                <a:srgbClr val="5C7187"/>
              </a:solidFill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895350" y="595820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共用能力层</a:t>
            </a:r>
            <a:endParaRPr sz="1575" b="1">
              <a:solidFill>
                <a:srgbClr val="17324D"/>
              </a:solidFill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2800350" y="5815330"/>
            <a:ext cx="9525" cy="4191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3028950" y="582485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3028950" y="5824855"/>
            <a:ext cx="38100" cy="400050"/>
          </a:xfrm>
          <a:prstGeom prst="rect">
            <a:avLst/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3162300" y="589597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sz="1200" b="1">
                <a:solidFill>
                  <a:srgbClr val="20374F"/>
                </a:solidFill>
              </a:rPr>
              <a:t>组织</a:t>
            </a:r>
            <a:r>
              <a:rPr lang="zh-CN" sz="1200" b="1">
                <a:solidFill>
                  <a:srgbClr val="20374F"/>
                </a:solidFill>
              </a:rPr>
              <a:t>架构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4712970" y="582485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4712970" y="5824855"/>
            <a:ext cx="38100" cy="400050"/>
          </a:xfrm>
          <a:prstGeom prst="rect">
            <a:avLst/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4846320" y="589597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用户</a:t>
            </a:r>
            <a:r>
              <a:rPr lang="zh-CN" sz="1200" b="1">
                <a:solidFill>
                  <a:srgbClr val="20374F"/>
                </a:solidFill>
              </a:rPr>
              <a:t>中心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6396990" y="582485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6396990" y="5824855"/>
            <a:ext cx="38100" cy="400050"/>
          </a:xfrm>
          <a:prstGeom prst="rect">
            <a:avLst/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6530340" y="589597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菜单权限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8081010" y="582485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8081010" y="5824855"/>
            <a:ext cx="38100" cy="400050"/>
          </a:xfrm>
          <a:prstGeom prst="rect">
            <a:avLst/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8214360" y="589597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数据</a:t>
            </a:r>
            <a:r>
              <a:rPr lang="zh-CN" sz="1200" b="1">
                <a:solidFill>
                  <a:srgbClr val="20374F"/>
                </a:solidFill>
              </a:rPr>
              <a:t>权限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9765030" y="582485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9765030" y="5824855"/>
            <a:ext cx="38100" cy="400050"/>
          </a:xfrm>
          <a:prstGeom prst="rect">
            <a:avLst/>
          </a:prstGeom>
          <a:solidFill>
            <a:srgbClr val="5C7187"/>
          </a:solidFill>
          <a:ln w="0">
            <a:solidFill>
              <a:srgbClr val="5C7187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9898380" y="589597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字典</a:t>
            </a:r>
            <a:r>
              <a:rPr lang="zh-CN" sz="1200" b="1">
                <a:solidFill>
                  <a:srgbClr val="20374F"/>
                </a:solidFill>
              </a:rPr>
              <a:t>管理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36" name="圆角矩形 135"/>
          <p:cNvSpPr>
            <a:spLocks noGrp="1"/>
          </p:cNvSpPr>
          <p:nvPr/>
        </p:nvSpPr>
        <p:spPr>
          <a:xfrm>
            <a:off x="628650" y="418084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4E0EB"/>
            </a:solidFill>
            <a:prstDash val="solid"/>
          </a:ln>
        </p:spPr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628650" y="4180840"/>
            <a:ext cx="95250" cy="647700"/>
          </a:xfrm>
          <a:prstGeom prst="roundRect">
            <a:avLst>
              <a:gd name="adj" fmla="val 50000"/>
            </a:avLst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914400" y="4266565"/>
            <a:ext cx="3238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975" b="1">
                <a:solidFill>
                  <a:srgbClr val="1677C8"/>
                </a:solidFill>
              </a:defRPr>
            </a:pPr>
            <a:r>
              <a:rPr sz="975" b="1">
                <a:solidFill>
                  <a:srgbClr val="1677C8"/>
                </a:solidFill>
              </a:rPr>
              <a:t>0</a:t>
            </a:r>
            <a:r>
              <a:rPr lang="en-US" sz="975" b="1">
                <a:solidFill>
                  <a:srgbClr val="1677C8"/>
                </a:solidFill>
              </a:rPr>
              <a:t>4</a:t>
            </a:r>
            <a:endParaRPr lang="en-US" sz="975" b="1">
              <a:solidFill>
                <a:srgbClr val="1677C8"/>
              </a:solidFill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914400" y="443801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>
              <a:defRPr sz="1575" b="1">
                <a:solidFill>
                  <a:srgbClr val="17324D"/>
                </a:solidFill>
              </a:defRPr>
            </a:pPr>
            <a:r>
              <a:rPr lang="zh-CN" sz="1575" b="1">
                <a:solidFill>
                  <a:srgbClr val="17324D"/>
                </a:solidFill>
              </a:rPr>
              <a:t>功能</a:t>
            </a:r>
            <a:r>
              <a:rPr lang="zh-CN" sz="1575" b="1">
                <a:solidFill>
                  <a:srgbClr val="17324D"/>
                </a:solidFill>
              </a:rPr>
              <a:t>应用层</a:t>
            </a:r>
            <a:endParaRPr lang="zh-CN" sz="1575" b="1">
              <a:solidFill>
                <a:srgbClr val="17324D"/>
              </a:solidFill>
            </a:endParaRPr>
          </a:p>
        </p:txBody>
      </p:sp>
      <p:sp>
        <p:nvSpPr>
          <p:cNvPr id="141" name="矩形 140"/>
          <p:cNvSpPr>
            <a:spLocks noGrp="1"/>
          </p:cNvSpPr>
          <p:nvPr/>
        </p:nvSpPr>
        <p:spPr>
          <a:xfrm>
            <a:off x="2819400" y="4295140"/>
            <a:ext cx="9525" cy="419100"/>
          </a:xfrm>
          <a:prstGeom prst="rect">
            <a:avLst/>
          </a:prstGeom>
          <a:solidFill>
            <a:srgbClr val="D8E3EC"/>
          </a:solidFill>
          <a:ln w="0">
            <a:solidFill>
              <a:srgbClr val="D8E3EC"/>
            </a:solidFill>
            <a:prstDash val="solid"/>
          </a:ln>
        </p:spPr>
      </p:sp>
      <p:sp>
        <p:nvSpPr>
          <p:cNvPr id="142" name="圆角矩形 141"/>
          <p:cNvSpPr>
            <a:spLocks noGrp="1"/>
          </p:cNvSpPr>
          <p:nvPr/>
        </p:nvSpPr>
        <p:spPr>
          <a:xfrm>
            <a:off x="3048000" y="430466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43" name="矩形 142"/>
          <p:cNvSpPr>
            <a:spLocks noGrp="1"/>
          </p:cNvSpPr>
          <p:nvPr/>
        </p:nvSpPr>
        <p:spPr>
          <a:xfrm>
            <a:off x="3048000" y="4304665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3181350" y="437578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工作表</a:t>
            </a:r>
            <a:r>
              <a:rPr lang="zh-CN" sz="1200" b="1">
                <a:solidFill>
                  <a:srgbClr val="20374F"/>
                </a:solidFill>
              </a:rPr>
              <a:t>单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4732020" y="430466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4732020" y="4304665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47" name="矩形 146"/>
          <p:cNvSpPr>
            <a:spLocks noGrp="1"/>
          </p:cNvSpPr>
          <p:nvPr/>
        </p:nvSpPr>
        <p:spPr>
          <a:xfrm>
            <a:off x="4865370" y="437578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任务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48" name="圆角矩形 147"/>
          <p:cNvSpPr>
            <a:spLocks noGrp="1"/>
          </p:cNvSpPr>
          <p:nvPr/>
        </p:nvSpPr>
        <p:spPr>
          <a:xfrm>
            <a:off x="6416040" y="430466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49" name="矩形 148"/>
          <p:cNvSpPr>
            <a:spLocks noGrp="1"/>
          </p:cNvSpPr>
          <p:nvPr/>
        </p:nvSpPr>
        <p:spPr>
          <a:xfrm>
            <a:off x="6416040" y="4304665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50" name="矩形 149"/>
          <p:cNvSpPr>
            <a:spLocks noGrp="1"/>
          </p:cNvSpPr>
          <p:nvPr/>
        </p:nvSpPr>
        <p:spPr>
          <a:xfrm>
            <a:off x="6549390" y="437578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流程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51" name="圆角矩形 150"/>
          <p:cNvSpPr>
            <a:spLocks noGrp="1"/>
          </p:cNvSpPr>
          <p:nvPr/>
        </p:nvSpPr>
        <p:spPr>
          <a:xfrm>
            <a:off x="8100060" y="430466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8100060" y="4304665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8233410" y="437578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预警</a:t>
            </a:r>
            <a:endParaRPr lang="zh-CN" sz="1200" b="1">
              <a:solidFill>
                <a:srgbClr val="20374F"/>
              </a:solidFill>
            </a:endParaRPr>
          </a:p>
        </p:txBody>
      </p:sp>
      <p:sp>
        <p:nvSpPr>
          <p:cNvPr id="154" name="圆角矩形 153"/>
          <p:cNvSpPr>
            <a:spLocks noGrp="1"/>
          </p:cNvSpPr>
          <p:nvPr/>
        </p:nvSpPr>
        <p:spPr>
          <a:xfrm>
            <a:off x="9784080" y="4304665"/>
            <a:ext cx="158877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7E3ED"/>
            </a:solidFill>
            <a:prstDash val="solid"/>
          </a:ln>
        </p:spPr>
      </p:sp>
      <p:sp>
        <p:nvSpPr>
          <p:cNvPr id="155" name="矩形 154"/>
          <p:cNvSpPr>
            <a:spLocks noGrp="1"/>
          </p:cNvSpPr>
          <p:nvPr/>
        </p:nvSpPr>
        <p:spPr>
          <a:xfrm>
            <a:off x="9784080" y="4304665"/>
            <a:ext cx="38100" cy="400050"/>
          </a:xfrm>
          <a:prstGeom prst="rect">
            <a:avLst/>
          </a:prstGeom>
          <a:solidFill>
            <a:srgbClr val="1677C8"/>
          </a:solidFill>
          <a:ln w="0">
            <a:solidFill>
              <a:srgbClr val="1677C8"/>
            </a:solidFill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9917430" y="4375785"/>
            <a:ext cx="136017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ctr">
              <a:defRPr sz="1200" b="1">
                <a:solidFill>
                  <a:srgbClr val="20374F"/>
                </a:solidFill>
              </a:defRPr>
            </a:pPr>
            <a:r>
              <a:rPr lang="zh-CN" sz="1200" b="1">
                <a:solidFill>
                  <a:srgbClr val="20374F"/>
                </a:solidFill>
              </a:rPr>
              <a:t>应用</a:t>
            </a:r>
            <a:endParaRPr lang="zh-CN" sz="1200" b="1">
              <a:solidFill>
                <a:srgbClr val="20374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</Words>
  <Application>WPS 演示</Application>
  <PresentationFormat>Converted Presentation</PresentationFormat>
  <Paragraphs>96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HQ</cp:lastModifiedBy>
  <cp:revision>6</cp:revision>
  <dcterms:created xsi:type="dcterms:W3CDTF">2026-08-21T07:14:16Z</dcterms:created>
  <dcterms:modified xsi:type="dcterms:W3CDTF">2026-08-21T07:14:16Z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CD1B4F6EABF5701FBDF2876A62A53C2E_42</vt:lpwstr>
  </property>
  <property fmtid="{D5CDD505-2E9C-101B-9397-08002B2CF9AE}" pid="3" name="KSOProductBuildVer">
    <vt:lpwstr>2052-7.4.1.8983</vt:lpwstr>
  </property>
</Properties>
</file>